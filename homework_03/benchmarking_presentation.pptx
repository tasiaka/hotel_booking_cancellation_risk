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C5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8" d="100"/>
          <a:sy n="128" d="100"/>
        </p:scale>
        <p:origin x="120" y="-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67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6583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330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Бенчмаркинг продукта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585216" y="1618488"/>
            <a:ext cx="621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Прогноз риска отмены бронирований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94360" y="2048256"/>
            <a:ext cx="5897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Панель на базе машинного обучения для менеджера по доходности: прогноз отмен, список высокого риска и выручка под риском.</a:t>
            </a:r>
            <a:endParaRPr lang="en-US" sz="1230" dirty="0"/>
          </a:p>
        </p:txBody>
      </p:sp>
      <p:sp>
        <p:nvSpPr>
          <p:cNvPr id="8" name="Shape 5"/>
          <p:cNvSpPr/>
          <p:nvPr/>
        </p:nvSpPr>
        <p:spPr>
          <a:xfrm>
            <a:off x="594360" y="4160520"/>
            <a:ext cx="2057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0369A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731520" y="42793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31520" y="468172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конкурентов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731520" y="49651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зарубежных + 2 российских</a:t>
            </a:r>
            <a:endParaRPr lang="en-US" sz="740" dirty="0"/>
          </a:p>
        </p:txBody>
      </p:sp>
      <p:sp>
        <p:nvSpPr>
          <p:cNvPr id="12" name="Shape 9"/>
          <p:cNvSpPr/>
          <p:nvPr/>
        </p:nvSpPr>
        <p:spPr>
          <a:xfrm>
            <a:off x="2788920" y="4160520"/>
            <a:ext cx="2057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65A30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2926080" y="42793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15k ₽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926080" y="468172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подписка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2926080" y="49651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 объект / месяц</a:t>
            </a:r>
            <a:endParaRPr lang="en-US" sz="740" dirty="0"/>
          </a:p>
        </p:txBody>
      </p:sp>
      <p:sp>
        <p:nvSpPr>
          <p:cNvPr id="16" name="Shape 13"/>
          <p:cNvSpPr/>
          <p:nvPr/>
        </p:nvSpPr>
        <p:spPr>
          <a:xfrm>
            <a:off x="4983480" y="4160520"/>
            <a:ext cx="205740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C2410C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5120640" y="4279392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≥1.5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5120640" y="468172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ru-RU" sz="930" b="1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</a:t>
            </a:r>
            <a:r>
              <a:rPr lang="en-US" sz="930" b="1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рирост</a:t>
            </a:r>
            <a:r>
              <a:rPr lang="ru-RU" sz="930" b="1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930" b="1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%</a:t>
            </a:r>
            <a:endParaRPr lang="en-US" sz="930" dirty="0"/>
          </a:p>
        </p:txBody>
      </p:sp>
      <p:sp>
        <p:nvSpPr>
          <p:cNvPr id="19" name="Text 16"/>
          <p:cNvSpPr/>
          <p:nvPr/>
        </p:nvSpPr>
        <p:spPr>
          <a:xfrm>
            <a:off x="5120640" y="49651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список высокого риска лучше случайного выбора</a:t>
            </a:r>
            <a:endParaRPr lang="en-US" sz="740" dirty="0"/>
          </a:p>
        </p:txBody>
      </p:sp>
      <p:sp>
        <p:nvSpPr>
          <p:cNvPr id="20" name="Text 17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01</a:t>
            </a:r>
            <a:endParaRPr lang="en-US" sz="8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Методика анализа по лекции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Сначала определяем проблему и рынок, затем превращаем наблюдения в стандарты продукта и метрики.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65A30D"/>
          </a:solidFill>
          <a:ln w="1270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640080" y="15819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93776" y="2075688"/>
            <a:ext cx="1920240" cy="19659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16276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Отмены бронирований ведут к потере выручки и ошибкам планирования.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2926080" y="1508760"/>
            <a:ext cx="384048" cy="38404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2926080" y="15819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79776" y="2075688"/>
            <a:ext cx="1920240" cy="19659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2926080" y="219456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Конкуренты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926080" y="2514600"/>
            <a:ext cx="16276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Берем прямые и косвенные решения: система управления доходностью, система управления отелем, динамическое ценообразование, гостиничные ИТ-сервисы.</a:t>
            </a:r>
            <a:endParaRPr lang="en-US" sz="810" dirty="0"/>
          </a:p>
        </p:txBody>
      </p:sp>
      <p:sp>
        <p:nvSpPr>
          <p:cNvPr id="14" name="Shape 12"/>
          <p:cNvSpPr/>
          <p:nvPr/>
        </p:nvSpPr>
        <p:spPr>
          <a:xfrm>
            <a:off x="5212080" y="1508760"/>
            <a:ext cx="384048" cy="384048"/>
          </a:xfrm>
          <a:prstGeom prst="ellipse">
            <a:avLst/>
          </a:prstGeom>
          <a:solidFill>
            <a:srgbClr val="65A30D"/>
          </a:solidFill>
          <a:ln w="1270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5212080" y="15819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65776" y="2075688"/>
            <a:ext cx="1920240" cy="19659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5212080" y="219456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Сравнение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12080" y="2514600"/>
            <a:ext cx="16276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Позиционирование, функции, цены, отзывы, жалобы, интеграции.</a:t>
            </a:r>
            <a:endParaRPr lang="en-US" sz="810" dirty="0"/>
          </a:p>
        </p:txBody>
      </p:sp>
      <p:sp>
        <p:nvSpPr>
          <p:cNvPr id="19" name="Shape 17"/>
          <p:cNvSpPr/>
          <p:nvPr/>
        </p:nvSpPr>
        <p:spPr>
          <a:xfrm>
            <a:off x="7498080" y="1508760"/>
            <a:ext cx="384048" cy="384048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7498080" y="15819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2075688"/>
            <a:ext cx="1920240" cy="19659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7498080" y="219456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Бенчмарки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98080" y="2514600"/>
            <a:ext cx="16276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Цена, скорость, удобство интерфейса, функциональность, качество модели, бизнес-эффект.</a:t>
            </a:r>
            <a:endParaRPr lang="en-US" sz="810" dirty="0"/>
          </a:p>
        </p:txBody>
      </p:sp>
      <p:sp>
        <p:nvSpPr>
          <p:cNvPr id="24" name="Shape 22"/>
          <p:cNvSpPr/>
          <p:nvPr/>
        </p:nvSpPr>
        <p:spPr>
          <a:xfrm>
            <a:off x="9784080" y="1508760"/>
            <a:ext cx="384048" cy="384048"/>
          </a:xfrm>
          <a:prstGeom prst="ellipse">
            <a:avLst/>
          </a:prstGeom>
          <a:solidFill>
            <a:srgbClr val="65A30D"/>
          </a:solidFill>
          <a:ln w="1270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9784080" y="15819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4F8F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637776" y="2075688"/>
            <a:ext cx="1920240" cy="19659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9784080" y="2194560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Требования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784080" y="2514600"/>
            <a:ext cx="1627632" cy="1435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Обязательные функции, отличия, монетизация и минимальные метрики.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40080" y="4956048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786384" y="5074920"/>
            <a:ext cx="10588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Принцип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786384" y="5394960"/>
            <a:ext cx="1058875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Бенчмаркинг нужен не для копирования. Он задает нормальный уровень качества, цены, скорости и удобства, которому должен соответствовать наш продукт.</a:t>
            </a:r>
            <a:endParaRPr lang="en-US" sz="970" dirty="0"/>
          </a:p>
        </p:txBody>
      </p:sp>
      <p:sp>
        <p:nvSpPr>
          <p:cNvPr id="32" name="Text 30"/>
          <p:cNvSpPr/>
          <p:nvPr/>
        </p:nvSpPr>
        <p:spPr>
          <a:xfrm>
            <a:off x="530352" y="619963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Источник методики: лекция MFDP/ИТМО «Бенчмаркинг продукта»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02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Исходная продуктовая гипотеза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 строим широкий система управления доходностью. Проверяем узкий рабочий сценарий прогнозирования отмен.</a:t>
            </a:r>
            <a:endParaRPr lang="en-US" sz="940" dirty="0"/>
          </a:p>
        </p:txBody>
      </p:sp>
      <p:pic>
        <p:nvPicPr>
          <p:cNvPr id="4" name="Image 0" descr="/mnt/data/a_high_resolution_dark_themed_analytics_dashboard_batch_3.png"/>
          <p:cNvPicPr>
            <a:picLocks noChangeAspect="1"/>
          </p:cNvPicPr>
          <p:nvPr/>
        </p:nvPicPr>
        <p:blipFill>
          <a:blip r:embed="rId3"/>
          <a:srcRect l="18066" r="18066"/>
          <a:stretch/>
        </p:blipFill>
        <p:spPr>
          <a:xfrm>
            <a:off x="6903720" y="1234440"/>
            <a:ext cx="4617720" cy="4069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8368" y="1298448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3"/>
          <p:cNvSpPr/>
          <p:nvPr/>
        </p:nvSpPr>
        <p:spPr>
          <a:xfrm>
            <a:off x="804672" y="141732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Пользователь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04672" y="1737360"/>
            <a:ext cx="2450592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Менеджер по доходности городского отеля или небольшой сети.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3703320" y="1298448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6"/>
          <p:cNvSpPr/>
          <p:nvPr/>
        </p:nvSpPr>
        <p:spPr>
          <a:xfrm>
            <a:off x="3849624" y="141732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Проблема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849624" y="1737360"/>
            <a:ext cx="2450592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Отмены и незаезды портят загрузку, overbooking и прогноз выручки.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658368" y="2944368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804672" y="306324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Сценарий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04672" y="3383280"/>
            <a:ext cx="2450592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Ежедневная проверка будущих броней на горизонте 7–30 дней.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3703320" y="2944368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2"/>
          <p:cNvSpPr/>
          <p:nvPr/>
        </p:nvSpPr>
        <p:spPr>
          <a:xfrm>
            <a:off x="3849624" y="3063240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Ценность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849624" y="3383280"/>
            <a:ext cx="2450592" cy="7955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Список высокого риска список, причины риска, действие и ожидаемая выручка под риском.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58368" y="4727448"/>
            <a:ext cx="5806440" cy="777240"/>
          </a:xfrm>
          <a:prstGeom prst="roundRect">
            <a:avLst>
              <a:gd name="adj" fmla="val 9412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804672" y="4846320"/>
            <a:ext cx="5513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Критическая цепочка продукта</a:t>
            </a:r>
            <a:endParaRPr lang="en-US" sz="1120" dirty="0"/>
          </a:p>
        </p:txBody>
      </p:sp>
      <p:sp>
        <p:nvSpPr>
          <p:cNvPr id="19" name="Text 16"/>
          <p:cNvSpPr/>
          <p:nvPr/>
        </p:nvSpPr>
        <p:spPr>
          <a:xfrm>
            <a:off x="804672" y="5166360"/>
            <a:ext cx="5513832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данные бронирования → честный прогноз → приоритизация риска → управленческое действие → оценка денег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03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Выбранные конкуренты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Исправлено ключевое требование: анализ смешанный, есть зарубежные и российские сервисы.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640080" y="1335024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786384" y="145389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IDeaS G3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86384" y="1773936"/>
            <a:ext cx="3044952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зарубежный рынок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корпоративная система управления доходностью: прогноз спроса, цены, загрузка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Роль: конкурент за бюджет и внимание команды по доходности и операционной команды.</a:t>
            </a:r>
            <a:endParaRPr lang="en-US" sz="770" dirty="0"/>
          </a:p>
        </p:txBody>
      </p:sp>
      <p:sp>
        <p:nvSpPr>
          <p:cNvPr id="7" name="Shape 5"/>
          <p:cNvSpPr/>
          <p:nvPr/>
        </p:nvSpPr>
        <p:spPr>
          <a:xfrm>
            <a:off x="4343400" y="1335024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4489704" y="145389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RoomPriceGenie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89704" y="1773936"/>
            <a:ext cx="3044952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зарубежный рынок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система управления доходностью для независимых отелей, простота и автоматический режим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Роль: конкурент за бюджет и внимание команды по доходности и операционной команды.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8046720" y="1335024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193024" y="145389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PriceLabs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93024" y="1773936"/>
            <a:ext cx="3044952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зарубежный рынок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динамическое ценообразование, самостоятельная настройка цена, рыночные отчеты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Роль: конкурент за бюджет и внимание команды по доходности и операционной команды.</a:t>
            </a:r>
            <a:endParaRPr lang="en-US" sz="770" dirty="0"/>
          </a:p>
        </p:txBody>
      </p:sp>
      <p:sp>
        <p:nvSpPr>
          <p:cNvPr id="13" name="Shape 11"/>
          <p:cNvSpPr/>
          <p:nvPr/>
        </p:nvSpPr>
        <p:spPr>
          <a:xfrm>
            <a:off x="640080" y="3209544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786384" y="332841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TravelLine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86384" y="3648456"/>
            <a:ext cx="3044952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РФ рынок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модуль бронирования, управление каналами продаж, гостиничные ИТ-сервисы platform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Роль: конкурент за бюджет и внимание команды по доходности и операционной команды.</a:t>
            </a:r>
            <a:endParaRPr lang="en-US" sz="770" dirty="0"/>
          </a:p>
        </p:txBody>
      </p:sp>
      <p:sp>
        <p:nvSpPr>
          <p:cNvPr id="16" name="Shape 14"/>
          <p:cNvSpPr/>
          <p:nvPr/>
        </p:nvSpPr>
        <p:spPr>
          <a:xfrm>
            <a:off x="4343400" y="3209544"/>
            <a:ext cx="3337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4489704" y="3328416"/>
            <a:ext cx="3044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Bnovo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89704" y="3648456"/>
            <a:ext cx="3044952" cy="8869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РФ рынок</a:t>
            </a: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система управления отелем + модуль управления каналами продаж + тарифы + аналитика</a:t>
            </a:r>
            <a:endParaRPr lang="en-US" sz="770" dirty="0"/>
          </a:p>
          <a:p>
            <a:pPr marL="0" indent="0">
              <a:buNone/>
            </a:pPr>
            <a:endParaRPr lang="en-US" sz="770" dirty="0"/>
          </a:p>
          <a:p>
            <a:pPr marL="0" indent="0">
              <a:buNone/>
            </a:pPr>
            <a:r>
              <a:rPr lang="en-US" sz="77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Роль: конкурент за бюджет и внимание команды по доходности и операционной команды.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4343400" y="5120640"/>
            <a:ext cx="7269480" cy="749808"/>
          </a:xfrm>
          <a:prstGeom prst="roundRect">
            <a:avLst>
              <a:gd name="adj" fmla="val 9756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4489704" y="5239512"/>
            <a:ext cx="6976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Почему это корректная выборка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489704" y="5559552"/>
            <a:ext cx="69768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Прямых публичных продуктов “только прогноз отмен” мало. Поэтому сравниваются решения, которые закрывают текущий способ работы с доходностью, загрузкой, каналами и ценами.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04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Карта рынка: где позиционируется продукт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411480" y="740663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Наш продукт — отдельный слой раннего предупреждения, а не замена система управления отелем/система управления доходностью.</a:t>
            </a:r>
            <a:endParaRPr lang="en-US" sz="940" dirty="0"/>
          </a:p>
        </p:txBody>
      </p:sp>
      <p:pic>
        <p:nvPicPr>
          <p:cNvPr id="4" name="Image 0" descr="/mnt/data/a_clean_high_tech_isometric_3d_infographic_dash_batch_2.png"/>
          <p:cNvPicPr>
            <a:picLocks noChangeAspect="1"/>
          </p:cNvPicPr>
          <p:nvPr/>
        </p:nvPicPr>
        <p:blipFill>
          <a:blip r:embed="rId3"/>
          <a:srcRect l="18567" r="18567"/>
          <a:stretch/>
        </p:blipFill>
        <p:spPr>
          <a:xfrm>
            <a:off x="502920" y="1143000"/>
            <a:ext cx="480060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17920" y="5303520"/>
            <a:ext cx="448056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6" name="Shape 3"/>
          <p:cNvSpPr/>
          <p:nvPr/>
        </p:nvSpPr>
        <p:spPr>
          <a:xfrm>
            <a:off x="6217920" y="5303520"/>
            <a:ext cx="0" cy="0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4"/>
          <p:cNvSpPr/>
          <p:nvPr/>
        </p:nvSpPr>
        <p:spPr>
          <a:xfrm>
            <a:off x="7818120" y="55138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узкий риск отмен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 rot="16200000">
            <a:off x="5276088" y="1810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ширина автоматизации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6492240" y="1874520"/>
            <a:ext cx="210312" cy="210312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6748272" y="1847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Bnovo</a:t>
            </a:r>
            <a:endParaRPr lang="en-US" sz="840" dirty="0"/>
          </a:p>
        </p:txBody>
      </p:sp>
      <p:sp>
        <p:nvSpPr>
          <p:cNvPr id="11" name="Shape 8"/>
          <p:cNvSpPr/>
          <p:nvPr/>
        </p:nvSpPr>
        <p:spPr>
          <a:xfrm>
            <a:off x="8869680" y="1828800"/>
            <a:ext cx="210312" cy="210312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9"/>
          <p:cNvSpPr/>
          <p:nvPr/>
        </p:nvSpPr>
        <p:spPr>
          <a:xfrm>
            <a:off x="9125712" y="18013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TravelLine</a:t>
            </a:r>
            <a:endParaRPr lang="en-US" sz="840" dirty="0"/>
          </a:p>
        </p:txBody>
      </p:sp>
      <p:sp>
        <p:nvSpPr>
          <p:cNvPr id="13" name="Shape 10"/>
          <p:cNvSpPr/>
          <p:nvPr/>
        </p:nvSpPr>
        <p:spPr>
          <a:xfrm>
            <a:off x="9098280" y="3063240"/>
            <a:ext cx="210312" cy="210312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1"/>
          <p:cNvSpPr/>
          <p:nvPr/>
        </p:nvSpPr>
        <p:spPr>
          <a:xfrm>
            <a:off x="9354312" y="30358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IDeaS</a:t>
            </a:r>
            <a:endParaRPr lang="en-US" sz="840" dirty="0"/>
          </a:p>
        </p:txBody>
      </p:sp>
      <p:sp>
        <p:nvSpPr>
          <p:cNvPr id="15" name="Shape 12"/>
          <p:cNvSpPr/>
          <p:nvPr/>
        </p:nvSpPr>
        <p:spPr>
          <a:xfrm>
            <a:off x="7452360" y="3429000"/>
            <a:ext cx="210312" cy="210312"/>
          </a:xfrm>
          <a:prstGeom prst="ellipse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3"/>
          <p:cNvSpPr/>
          <p:nvPr/>
        </p:nvSpPr>
        <p:spPr>
          <a:xfrm>
            <a:off x="7708392" y="340156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RoomPriceGenie</a:t>
            </a:r>
            <a:endParaRPr lang="en-US" sz="840" dirty="0"/>
          </a:p>
        </p:txBody>
      </p:sp>
      <p:sp>
        <p:nvSpPr>
          <p:cNvPr id="17" name="Shape 14"/>
          <p:cNvSpPr/>
          <p:nvPr/>
        </p:nvSpPr>
        <p:spPr>
          <a:xfrm>
            <a:off x="6812280" y="4160520"/>
            <a:ext cx="210312" cy="210312"/>
          </a:xfrm>
          <a:prstGeom prst="ellipse">
            <a:avLst/>
          </a:prstGeom>
          <a:solidFill>
            <a:srgbClr val="65A30D"/>
          </a:solidFill>
          <a:ln w="12700">
            <a:solidFill>
              <a:srgbClr val="65A30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5"/>
          <p:cNvSpPr/>
          <p:nvPr/>
        </p:nvSpPr>
        <p:spPr>
          <a:xfrm>
            <a:off x="7068312" y="41330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PriceLabs</a:t>
            </a:r>
            <a:endParaRPr lang="en-US" sz="840" dirty="0"/>
          </a:p>
        </p:txBody>
      </p:sp>
      <p:sp>
        <p:nvSpPr>
          <p:cNvPr id="19" name="Shape 16"/>
          <p:cNvSpPr/>
          <p:nvPr/>
        </p:nvSpPr>
        <p:spPr>
          <a:xfrm>
            <a:off x="9326880" y="4709160"/>
            <a:ext cx="210312" cy="210312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7"/>
          <p:cNvSpPr/>
          <p:nvPr/>
        </p:nvSpPr>
        <p:spPr>
          <a:xfrm>
            <a:off x="9582912" y="46817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Наш продукт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6140465" y="5911326"/>
            <a:ext cx="5120640" cy="663209"/>
          </a:xfrm>
          <a:prstGeom prst="roundRect">
            <a:avLst>
              <a:gd name="adj" fmla="val 15385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19"/>
          <p:cNvSpPr/>
          <p:nvPr/>
        </p:nvSpPr>
        <p:spPr>
          <a:xfrm>
            <a:off x="6318504" y="5952744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Вывод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318504" y="6172200"/>
            <a:ext cx="482803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Стартовая стратегия — не копировать “комбайны”, а занять gap: прогноз отмен + деньги + действие.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5" name="Text 22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05</a:t>
            </a:r>
            <a:endParaRPr lang="en-US" sz="840" dirty="0"/>
          </a:p>
        </p:txBody>
      </p:sp>
      <p:sp>
        <p:nvSpPr>
          <p:cNvPr id="26" name="Shape 2">
            <a:extLst>
              <a:ext uri="{FF2B5EF4-FFF2-40B4-BE49-F238E27FC236}">
                <a16:creationId xmlns:a16="http://schemas.microsoft.com/office/drawing/2014/main" id="{0737F7A7-814E-9527-2EAD-442E2D3ABF40}"/>
              </a:ext>
            </a:extLst>
          </p:cNvPr>
          <p:cNvSpPr/>
          <p:nvPr/>
        </p:nvSpPr>
        <p:spPr>
          <a:xfrm flipH="1" flipV="1">
            <a:off x="6172200" y="1261871"/>
            <a:ext cx="23219" cy="4041649"/>
          </a:xfrm>
          <a:prstGeom prst="line">
            <a:avLst/>
          </a:prstGeom>
          <a:noFill/>
          <a:ln w="1397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Позиционирование и функциональный фокус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Сравнение показывает: рынок силен в ценообразование и система управления отелем, но слабее в отдельном сценарии отмен.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202082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640080" y="1289304"/>
            <a:ext cx="1929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Продукт</a:t>
            </a:r>
            <a:endParaRPr lang="en-US" sz="860" dirty="0"/>
          </a:p>
        </p:txBody>
      </p:sp>
      <p:sp>
        <p:nvSpPr>
          <p:cNvPr id="6" name="Shape 4"/>
          <p:cNvSpPr/>
          <p:nvPr/>
        </p:nvSpPr>
        <p:spPr>
          <a:xfrm>
            <a:off x="2651760" y="1234440"/>
            <a:ext cx="220370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2697480" y="1289304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Фокус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4892040" y="1234440"/>
            <a:ext cx="430682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937760" y="1289304"/>
            <a:ext cx="4215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Сильная сторона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9235440" y="1234440"/>
            <a:ext cx="270662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9281160" y="1289304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Отдельный прогноз отмен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594360" y="1837944"/>
            <a:ext cx="2020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40080" y="1892808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IDeaS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651760" y="1837944"/>
            <a:ext cx="220370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697480" y="1892808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корпоративная система управления доходностью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892040" y="1837944"/>
            <a:ext cx="4306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4937760" y="1892808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глубокое управление доходностью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9235440" y="1837944"/>
            <a:ext cx="27066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9281160" y="1892808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594360" y="2441448"/>
            <a:ext cx="2020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40080" y="2496312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RoomPriceGenie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2651760" y="2441448"/>
            <a:ext cx="220370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2697480" y="2496312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простая система управления доходностью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892040" y="2441448"/>
            <a:ext cx="4306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4937760" y="2496312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удобство интерфейса и автоматический режим для SMB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235440" y="2441448"/>
            <a:ext cx="27066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9281160" y="2496312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594360" y="3044952"/>
            <a:ext cx="2020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640080" y="3099816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PriceLabs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651760" y="3044952"/>
            <a:ext cx="220370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29"/>
          <p:cNvSpPr/>
          <p:nvPr/>
        </p:nvSpPr>
        <p:spPr>
          <a:xfrm>
            <a:off x="2697480" y="3099816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динамическое ценообразование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892040" y="3044952"/>
            <a:ext cx="4306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1"/>
          <p:cNvSpPr/>
          <p:nvPr/>
        </p:nvSpPr>
        <p:spPr>
          <a:xfrm>
            <a:off x="4937760" y="3099816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низкая цена и самостоятельная настройка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235440" y="3044952"/>
            <a:ext cx="27066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9281160" y="3099816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594360" y="3648456"/>
            <a:ext cx="2020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7" name="Text 35"/>
          <p:cNvSpPr/>
          <p:nvPr/>
        </p:nvSpPr>
        <p:spPr>
          <a:xfrm>
            <a:off x="640080" y="3703320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TravelLine</a:t>
            </a:r>
            <a:endParaRPr lang="en-US" sz="780" dirty="0"/>
          </a:p>
        </p:txBody>
      </p:sp>
      <p:sp>
        <p:nvSpPr>
          <p:cNvPr id="38" name="Shape 36"/>
          <p:cNvSpPr/>
          <p:nvPr/>
        </p:nvSpPr>
        <p:spPr>
          <a:xfrm>
            <a:off x="2651760" y="3648456"/>
            <a:ext cx="220370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Text 37"/>
          <p:cNvSpPr/>
          <p:nvPr/>
        </p:nvSpPr>
        <p:spPr>
          <a:xfrm>
            <a:off x="2697480" y="3703320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гостиничные ИТ-сервисы РФ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4892040" y="3648456"/>
            <a:ext cx="4306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1" name="Text 39"/>
          <p:cNvSpPr/>
          <p:nvPr/>
        </p:nvSpPr>
        <p:spPr>
          <a:xfrm>
            <a:off x="4937760" y="3703320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каналы и онлайн-продажи</a:t>
            </a:r>
            <a:endParaRPr lang="en-US" sz="780" dirty="0"/>
          </a:p>
        </p:txBody>
      </p:sp>
      <p:sp>
        <p:nvSpPr>
          <p:cNvPr id="42" name="Shape 40"/>
          <p:cNvSpPr/>
          <p:nvPr/>
        </p:nvSpPr>
        <p:spPr>
          <a:xfrm>
            <a:off x="9235440" y="3648456"/>
            <a:ext cx="27066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3" name="Text 41"/>
          <p:cNvSpPr/>
          <p:nvPr/>
        </p:nvSpPr>
        <p:spPr>
          <a:xfrm>
            <a:off x="9281160" y="3703320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594360" y="4251960"/>
            <a:ext cx="2020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5" name="Text 43"/>
          <p:cNvSpPr/>
          <p:nvPr/>
        </p:nvSpPr>
        <p:spPr>
          <a:xfrm>
            <a:off x="640080" y="4306824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Bnovo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2651760" y="4251960"/>
            <a:ext cx="220370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7" name="Text 45"/>
          <p:cNvSpPr/>
          <p:nvPr/>
        </p:nvSpPr>
        <p:spPr>
          <a:xfrm>
            <a:off x="2697480" y="4306824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система управления отелем РФ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>
            <a:off x="4892040" y="4251960"/>
            <a:ext cx="43068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9" name="Text 47"/>
          <p:cNvSpPr/>
          <p:nvPr/>
        </p:nvSpPr>
        <p:spPr>
          <a:xfrm>
            <a:off x="4937760" y="4306824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ежедневная операционка</a:t>
            </a:r>
            <a:endParaRPr lang="en-US" sz="780" dirty="0"/>
          </a:p>
        </p:txBody>
      </p:sp>
      <p:sp>
        <p:nvSpPr>
          <p:cNvPr id="50" name="Shape 48"/>
          <p:cNvSpPr/>
          <p:nvPr/>
        </p:nvSpPr>
        <p:spPr>
          <a:xfrm>
            <a:off x="9235440" y="4251960"/>
            <a:ext cx="2706624" cy="557784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1" name="Text 49"/>
          <p:cNvSpPr/>
          <p:nvPr/>
        </p:nvSpPr>
        <p:spPr>
          <a:xfrm>
            <a:off x="9281160" y="4306824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нет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594360" y="4855464"/>
            <a:ext cx="2020824" cy="557784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3" name="Text 51"/>
          <p:cNvSpPr/>
          <p:nvPr/>
        </p:nvSpPr>
        <p:spPr>
          <a:xfrm>
            <a:off x="640080" y="4910328"/>
            <a:ext cx="1929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Наш продукт</a:t>
            </a:r>
            <a:endParaRPr lang="en-US" sz="780" dirty="0"/>
          </a:p>
        </p:txBody>
      </p:sp>
      <p:sp>
        <p:nvSpPr>
          <p:cNvPr id="54" name="Shape 52"/>
          <p:cNvSpPr/>
          <p:nvPr/>
        </p:nvSpPr>
        <p:spPr>
          <a:xfrm>
            <a:off x="2651760" y="4855464"/>
            <a:ext cx="2203704" cy="557784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5" name="Text 53"/>
          <p:cNvSpPr/>
          <p:nvPr/>
        </p:nvSpPr>
        <p:spPr>
          <a:xfrm>
            <a:off x="2697480" y="4910328"/>
            <a:ext cx="21122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риск отмен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4892040" y="4855464"/>
            <a:ext cx="4306824" cy="557784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7" name="Text 55"/>
          <p:cNvSpPr/>
          <p:nvPr/>
        </p:nvSpPr>
        <p:spPr>
          <a:xfrm>
            <a:off x="4937760" y="4910328"/>
            <a:ext cx="42153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список высокого риска → действие → деньги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9235440" y="4855464"/>
            <a:ext cx="2706624" cy="557784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9" name="Text 57"/>
          <p:cNvSpPr/>
          <p:nvPr/>
        </p:nvSpPr>
        <p:spPr>
          <a:xfrm>
            <a:off x="9281160" y="4910328"/>
            <a:ext cx="261518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да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94360" y="5568696"/>
            <a:ext cx="10972800" cy="868680"/>
          </a:xfrm>
          <a:prstGeom prst="roundRect">
            <a:avLst>
              <a:gd name="adj" fmla="val 14545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1" name="Text 59"/>
          <p:cNvSpPr/>
          <p:nvPr/>
        </p:nvSpPr>
        <p:spPr>
          <a:xfrm>
            <a:off x="722376" y="5632704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Главный вывод</a:t>
            </a:r>
            <a:endParaRPr lang="en-US" sz="1600" dirty="0"/>
          </a:p>
        </p:txBody>
      </p:sp>
      <p:sp>
        <p:nvSpPr>
          <p:cNvPr id="62" name="Text 60"/>
          <p:cNvSpPr/>
          <p:nvPr/>
        </p:nvSpPr>
        <p:spPr>
          <a:xfrm>
            <a:off x="722376" y="5990127"/>
            <a:ext cx="1068019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Конкуренты задают стандарт по интеграциям, аналитике и удобство интерфейса. Наш продукт должен отличаться фокус на риске отмен сценарием и финансовой интерпретацией прогноза.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06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Цены и валюты: все приведено к рублям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Курс для пересчета: USD</a:t>
            </a:r>
            <a:r>
              <a:rPr lang="en-US" sz="94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=74.6 </a:t>
            </a: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₽, EUR</a:t>
            </a:r>
            <a:r>
              <a:rPr lang="en-US" sz="94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=87.8 ₽ </a:t>
            </a: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 12.05.2026. </a:t>
            </a:r>
            <a:r>
              <a:rPr lang="en-US" sz="94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Цены округлены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202082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640080" y="1289304"/>
            <a:ext cx="1929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Продукт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651760" y="1234440"/>
            <a:ext cx="234086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2697480" y="1289304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Оригинальная цена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0" y="1234440"/>
            <a:ext cx="234086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5074920" y="1289304"/>
            <a:ext cx="2249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 рублях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406640" y="1234440"/>
            <a:ext cx="4764024" cy="438912"/>
          </a:xfrm>
          <a:prstGeom prst="rect">
            <a:avLst/>
          </a:prstGeom>
          <a:solidFill>
            <a:srgbClr val="223145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7452360" y="1289304"/>
            <a:ext cx="4672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Комментарий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94360" y="1810512"/>
            <a:ext cx="20208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40080" y="1865376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2651760" y="1810512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2697480" y="1865376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 запросу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5029200" y="1810512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5074920" y="1865376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 запросу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7406640" y="1810512"/>
            <a:ext cx="47640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7452360" y="1865376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корпоративная коммерческое предложение, не используем в среднем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594360" y="2386584"/>
            <a:ext cx="20208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40080" y="2441448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RoomPriceGenie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651760" y="2386584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2697480" y="2441448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$119 / мес</a:t>
            </a:r>
            <a:endParaRPr lang="en-US" sz="760" dirty="0"/>
          </a:p>
        </p:txBody>
      </p:sp>
      <p:sp>
        <p:nvSpPr>
          <p:cNvPr id="24" name="Shape 22"/>
          <p:cNvSpPr/>
          <p:nvPr/>
        </p:nvSpPr>
        <p:spPr>
          <a:xfrm>
            <a:off x="5029200" y="2386584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5074920" y="2441448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8 900 ₽/мес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7406640" y="2386584"/>
            <a:ext cx="47640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7452360" y="2441448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Capterra объект; официальный сайт цена по запросу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594360" y="2962656"/>
            <a:ext cx="20208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640080" y="3017520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PriceLabs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651760" y="2962656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29"/>
          <p:cNvSpPr/>
          <p:nvPr/>
        </p:nvSpPr>
        <p:spPr>
          <a:xfrm>
            <a:off x="2697480" y="3017520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$14.49 / объект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5029200" y="2962656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1"/>
          <p:cNvSpPr/>
          <p:nvPr/>
        </p:nvSpPr>
        <p:spPr>
          <a:xfrm>
            <a:off x="5074920" y="3017520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1 100 ₽/мес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7406640" y="2962656"/>
            <a:ext cx="47640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Text 33"/>
          <p:cNvSpPr/>
          <p:nvPr/>
        </p:nvSpPr>
        <p:spPr>
          <a:xfrm>
            <a:off x="7452360" y="3017520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официальная страница тарифов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94360" y="3538728"/>
            <a:ext cx="20208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7" name="Text 35"/>
          <p:cNvSpPr/>
          <p:nvPr/>
        </p:nvSpPr>
        <p:spPr>
          <a:xfrm>
            <a:off x="640080" y="3593592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TravelLine управление каналами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2651760" y="3538728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9" name="Text 37"/>
          <p:cNvSpPr/>
          <p:nvPr/>
        </p:nvSpPr>
        <p:spPr>
          <a:xfrm>
            <a:off x="2697480" y="3593592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3 000 ₽/мес</a:t>
            </a:r>
            <a:endParaRPr lang="en-US" sz="760" dirty="0"/>
          </a:p>
        </p:txBody>
      </p:sp>
      <p:sp>
        <p:nvSpPr>
          <p:cNvPr id="40" name="Shape 38"/>
          <p:cNvSpPr/>
          <p:nvPr/>
        </p:nvSpPr>
        <p:spPr>
          <a:xfrm>
            <a:off x="5029200" y="3538728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1" name="Text 39"/>
          <p:cNvSpPr/>
          <p:nvPr/>
        </p:nvSpPr>
        <p:spPr>
          <a:xfrm>
            <a:off x="5074920" y="3593592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3 000 ₽/мес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7406640" y="3538728"/>
            <a:ext cx="47640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3" name="Text 41"/>
          <p:cNvSpPr/>
          <p:nvPr/>
        </p:nvSpPr>
        <p:spPr>
          <a:xfrm>
            <a:off x="7452360" y="3593592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официальный TL модуль управления каналами продаж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94360" y="4114800"/>
            <a:ext cx="20208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5" name="Text 43"/>
          <p:cNvSpPr/>
          <p:nvPr/>
        </p:nvSpPr>
        <p:spPr>
          <a:xfrm>
            <a:off x="640080" y="4169664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Bnovo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2651760" y="4114800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7" name="Text 45"/>
          <p:cNvSpPr/>
          <p:nvPr/>
        </p:nvSpPr>
        <p:spPr>
          <a:xfrm>
            <a:off x="2697480" y="4169664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2 730–5 950 ₽/мес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029200" y="4114800"/>
            <a:ext cx="234086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9" name="Text 47"/>
          <p:cNvSpPr/>
          <p:nvPr/>
        </p:nvSpPr>
        <p:spPr>
          <a:xfrm>
            <a:off x="5074920" y="4169664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2 730–5 950 ₽/мес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406640" y="4114800"/>
            <a:ext cx="4764024" cy="53035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1" name="Text 49"/>
          <p:cNvSpPr/>
          <p:nvPr/>
        </p:nvSpPr>
        <p:spPr>
          <a:xfrm>
            <a:off x="7452360" y="4169664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официальные тарифы со скидкой 30%</a:t>
            </a:r>
            <a:endParaRPr lang="en-US" sz="760" dirty="0"/>
          </a:p>
        </p:txBody>
      </p:sp>
      <p:sp>
        <p:nvSpPr>
          <p:cNvPr id="52" name="Shape 50"/>
          <p:cNvSpPr/>
          <p:nvPr/>
        </p:nvSpPr>
        <p:spPr>
          <a:xfrm>
            <a:off x="594360" y="4690872"/>
            <a:ext cx="2020824" cy="530352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3" name="Text 51"/>
          <p:cNvSpPr/>
          <p:nvPr/>
        </p:nvSpPr>
        <p:spPr>
          <a:xfrm>
            <a:off x="640080" y="4745736"/>
            <a:ext cx="19293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Наш продукт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2651760" y="4690872"/>
            <a:ext cx="2340864" cy="530352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5" name="Text 53"/>
          <p:cNvSpPr/>
          <p:nvPr/>
        </p:nvSpPr>
        <p:spPr>
          <a:xfrm>
            <a:off x="2697480" y="4745736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15 000 ₽/мес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5029200" y="4690872"/>
            <a:ext cx="2340864" cy="530352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7" name="Text 55"/>
          <p:cNvSpPr/>
          <p:nvPr/>
        </p:nvSpPr>
        <p:spPr>
          <a:xfrm>
            <a:off x="5074920" y="4745736"/>
            <a:ext cx="2249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15 000 ₽/мес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06640" y="4690872"/>
            <a:ext cx="4764024" cy="530352"/>
          </a:xfrm>
          <a:prstGeom prst="rect">
            <a:avLst/>
          </a:prstGeom>
          <a:solidFill>
            <a:srgbClr val="203B2D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9" name="Text 57"/>
          <p:cNvSpPr/>
          <p:nvPr/>
        </p:nvSpPr>
        <p:spPr>
          <a:xfrm>
            <a:off x="7452360" y="4745736"/>
            <a:ext cx="4672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60" b="1" dirty="0">
                <a:solidFill>
                  <a:srgbClr val="65A30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пилот отдельно: 30 000 ₽</a:t>
            </a:r>
            <a:endParaRPr lang="en-US" sz="760" dirty="0"/>
          </a:p>
        </p:txBody>
      </p:sp>
      <p:sp>
        <p:nvSpPr>
          <p:cNvPr id="69" name="Text 67"/>
          <p:cNvSpPr/>
          <p:nvPr/>
        </p:nvSpPr>
        <p:spPr>
          <a:xfrm>
            <a:off x="530352" y="6199632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3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Источники: PriceLabs plans, RoomPriceGenie/Capterra, TravelLine управление каналами, Bnovo tariffs, курс ЦБ РФ через Клерк</a:t>
            </a:r>
            <a:endParaRPr lang="en-US" sz="630" dirty="0"/>
          </a:p>
        </p:txBody>
      </p:sp>
      <p:sp>
        <p:nvSpPr>
          <p:cNvPr id="70" name="Text 68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71" name="Text 69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07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хвалят и на что жалуются пользователи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Этот слой анализа превращается в требования удобство интерфейса и упаковки продукта.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32104" y="1353312"/>
            <a:ext cx="3227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хвалят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32104" y="1673352"/>
            <a:ext cx="3227832" cy="3767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понятный панель управления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быстрый onboarding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автоматизацию рутины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интеграции система управления отелем/OTA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поддержку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рыночные данные и отчеты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понятные решения по цене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407408" y="1234440"/>
            <a:ext cx="3520440" cy="429768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4553712" y="1353312"/>
            <a:ext cx="3227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критикуют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53712" y="1673352"/>
            <a:ext cx="3227832" cy="3767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сложность для новичков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скрытые / коммерческое предложение ценообразование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много расширенных настроек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необходимость ручной настройки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широкие функции без узкого сценария</a:t>
            </a:r>
            <a:endParaRPr lang="en-US" sz="1020" dirty="0"/>
          </a:p>
          <a:p>
            <a:pPr marL="0" indent="0">
              <a:buNone/>
            </a:pPr>
            <a:r>
              <a:rPr lang="en-US" sz="10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не всегда понятна причина рекомендации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8138160" y="1234440"/>
            <a:ext cx="3246120" cy="429768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284464" y="135331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делаем иначе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84464" y="1673352"/>
            <a:ext cx="2953512" cy="3767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Один рабочий сценарий.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Список высокого риска на первом экране.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Причина риска по броне.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Рекомендованное действие.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Деньги в зоне риска.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Прозрачная цена.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08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Обязательная функциональность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Минимальный набор, без которого продукт не будет конкурентоспособен в выбранном сценарии.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713232" y="1298448"/>
            <a:ext cx="51663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59536" y="1417320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Рабочий минимум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59536" y="1737360"/>
            <a:ext cx="4873752" cy="3904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загрузка файла с бронированиями + демонстрационный набор данных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проверка схемы и пропусков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исключение признаков с утечкой данных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оценка_риска для каждой брони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категории риска: Low/Medium/High/Critical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291072" y="1298448"/>
            <a:ext cx="51663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6437376" y="1417320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Усиление ценности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37376" y="1737360"/>
            <a:ext cx="4873752" cy="3904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таблица бронирований высокого риска + фильтры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локальные факторы риска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ожидаемая выручка под риском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рекомендованное действие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экспорт списка высокого и критического риска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09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Дифференциаторы относительно конкурентов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 ширина функций, а глубина конкретного сценария: отмена бронирования.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32104" y="135331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Фокус на риске отмен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32104" y="167335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Продукт с самого начала отвечает: какие брони могут отмениться?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6364224" y="135331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Выручка под риском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64224" y="167335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Показывает не только оценка, но и сумму потенциальной потери.</a:t>
            </a:r>
            <a:endParaRPr lang="en-US" sz="940" dirty="0"/>
          </a:p>
        </p:txBody>
      </p:sp>
      <p:sp>
        <p:nvSpPr>
          <p:cNvPr id="10" name="Shape 8"/>
          <p:cNvSpPr/>
          <p:nvPr/>
        </p:nvSpPr>
        <p:spPr>
          <a:xfrm>
            <a:off x="685800" y="274320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32104" y="286207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Понятность действий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32104" y="318211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Для high/critical категория есть рекомендуемое действие.</a:t>
            </a:r>
            <a:endParaRPr lang="en-US" sz="940" dirty="0"/>
          </a:p>
        </p:txBody>
      </p:sp>
      <p:sp>
        <p:nvSpPr>
          <p:cNvPr id="13" name="Shape 11"/>
          <p:cNvSpPr/>
          <p:nvPr/>
        </p:nvSpPr>
        <p:spPr>
          <a:xfrm>
            <a:off x="6217920" y="274320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364224" y="286207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Прозрачность проверки утечки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4224" y="318211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Прямо показываем, какие признаки исключены и почему.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685800" y="425196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832104" y="437083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6D28D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Быстрый пилот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2104" y="469087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Проверка ценности без интеграции: CSV-файл + отчет + демонстрация.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6217920" y="4251960"/>
            <a:ext cx="51663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364224" y="437083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Прозрачная цена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64224" y="4690872"/>
            <a:ext cx="487375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15 000 ₽/мес и 30 000 ₽ пилот, без скрытое корпоративное коммерческое предложение.</a:t>
            </a:r>
            <a:endParaRPr lang="en-US" sz="940" dirty="0"/>
          </a:p>
        </p:txBody>
      </p:sp>
      <p:sp>
        <p:nvSpPr>
          <p:cNvPr id="22" name="Text 20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3" name="Text 21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10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Продуктовые и технические бенчмарки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Значения задают минимальный стандарт прототипа и пилота.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731520" y="1325880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65A30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68680" y="144475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≤3 мин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8470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время до результата</a:t>
            </a:r>
            <a:endParaRPr lang="en-US" sz="930" dirty="0"/>
          </a:p>
        </p:txBody>
      </p:sp>
      <p:sp>
        <p:nvSpPr>
          <p:cNvPr id="7" name="Text 5"/>
          <p:cNvSpPr/>
          <p:nvPr/>
        </p:nvSpPr>
        <p:spPr>
          <a:xfrm>
            <a:off x="868680" y="213055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CSV-файл → список высокого риска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4434840" y="1325880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0369A1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572000" y="144475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≤5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72000" y="18470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шагов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4572000" y="213055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загрузка → экспорт</a:t>
            </a:r>
            <a:endParaRPr lang="en-US" sz="74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C2410C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8275320" y="1444752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100%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75320" y="1847088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покрытие оценкой риска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8275320" y="2130552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 каждой брони категория</a:t>
            </a:r>
            <a:endParaRPr lang="en-US" sz="740" dirty="0"/>
          </a:p>
        </p:txBody>
      </p:sp>
      <p:sp>
        <p:nvSpPr>
          <p:cNvPr id="16" name="Shape 14"/>
          <p:cNvSpPr/>
          <p:nvPr/>
        </p:nvSpPr>
        <p:spPr>
          <a:xfrm>
            <a:off x="731520" y="3227832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15803D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868680" y="334670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≥95%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68680" y="374904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успешная обработка CSV</a:t>
            </a:r>
            <a:endParaRPr lang="en-US" sz="930" dirty="0"/>
          </a:p>
        </p:txBody>
      </p:sp>
      <p:sp>
        <p:nvSpPr>
          <p:cNvPr id="19" name="Text 17"/>
          <p:cNvSpPr/>
          <p:nvPr/>
        </p:nvSpPr>
        <p:spPr>
          <a:xfrm>
            <a:off x="868680" y="403250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без критических ошибок</a:t>
            </a:r>
            <a:endParaRPr lang="en-US" sz="740" dirty="0"/>
          </a:p>
        </p:txBody>
      </p:sp>
      <p:sp>
        <p:nvSpPr>
          <p:cNvPr id="20" name="Shape 18"/>
          <p:cNvSpPr/>
          <p:nvPr/>
        </p:nvSpPr>
        <p:spPr>
          <a:xfrm>
            <a:off x="4434840" y="3227832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6D28D9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4572000" y="334670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6D28D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≥4/5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0" y="374904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полезность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4572000" y="403250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после 3–5 демо</a:t>
            </a:r>
            <a:endParaRPr lang="en-US" sz="740" dirty="0"/>
          </a:p>
        </p:txBody>
      </p:sp>
      <p:sp>
        <p:nvSpPr>
          <p:cNvPr id="24" name="Shape 22"/>
          <p:cNvSpPr/>
          <p:nvPr/>
        </p:nvSpPr>
        <p:spPr>
          <a:xfrm>
            <a:off x="8138160" y="3227832"/>
            <a:ext cx="3154680" cy="1353312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0160">
            <a:solidFill>
              <a:srgbClr val="DC2626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8275320" y="3346704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≥4/5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75320" y="3749040"/>
            <a:ext cx="2880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30" b="1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понятность действий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8275320" y="4032504"/>
            <a:ext cx="2880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понятно, что делать</a:t>
            </a:r>
            <a:endParaRPr lang="en-US" sz="740" dirty="0"/>
          </a:p>
        </p:txBody>
      </p:sp>
      <p:sp>
        <p:nvSpPr>
          <p:cNvPr id="28" name="Text 26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Бенчмарки машинного обучения: сначала ранжирование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Доля верных ответов не главная метрика. Менеджер по доходности работает с верхними 10–20% рискованных броней.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777240" y="1301956"/>
            <a:ext cx="4846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923544" y="1353312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ROC-AUC</a:t>
            </a:r>
            <a:endParaRPr lang="en-US" sz="920" dirty="0"/>
          </a:p>
        </p:txBody>
      </p:sp>
      <p:sp>
        <p:nvSpPr>
          <p:cNvPr id="6" name="Text 4"/>
          <p:cNvSpPr/>
          <p:nvPr/>
        </p:nvSpPr>
        <p:spPr>
          <a:xfrm>
            <a:off x="923544" y="1618488"/>
            <a:ext cx="455371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≥0.75 · минимум различения отмен и неотмен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1993392"/>
            <a:ext cx="4846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923544" y="2112264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Прирост качества 20% (Lift)</a:t>
            </a:r>
            <a:endParaRPr lang="en-US" sz="920" dirty="0"/>
          </a:p>
        </p:txBody>
      </p:sp>
      <p:sp>
        <p:nvSpPr>
          <p:cNvPr id="9" name="Text 7"/>
          <p:cNvSpPr/>
          <p:nvPr/>
        </p:nvSpPr>
        <p:spPr>
          <a:xfrm>
            <a:off x="923544" y="2321196"/>
            <a:ext cx="455371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≥1.5 · список высокого риска лучше случайного отбора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2752344"/>
            <a:ext cx="4846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923544" y="2871216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000" b="1">
                <a:solidFill>
                  <a:srgbClr val="008C51"/>
                </a:solidFill>
              </a:rPr>
              <a:t>Precision </a:t>
            </a:r>
            <a:r>
              <a:rPr lang="en-US" sz="1000" b="1">
                <a:solidFill>
                  <a:srgbClr val="008C5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</a:t>
            </a:r>
            <a:r>
              <a:rPr lang="en-US" sz="1000" b="1" dirty="0">
                <a:solidFill>
                  <a:srgbClr val="008C5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%</a:t>
            </a:r>
            <a:endParaRPr lang="en-US" sz="1000" b="1" dirty="0">
              <a:solidFill>
                <a:srgbClr val="008C5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923544" y="3095905"/>
            <a:ext cx="455371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≥0.50 · качество верхнего списка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3511296"/>
            <a:ext cx="4846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923544" y="3630168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Recall 20</a:t>
            </a:r>
            <a:r>
              <a:rPr lang="en-US" sz="92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%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923544" y="3849624"/>
            <a:ext cx="455371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≥0.40 · доля всех отмен в верхние 20%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77240" y="4270248"/>
            <a:ext cx="484632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923544" y="4389120"/>
            <a:ext cx="4553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Полнота </a:t>
            </a:r>
            <a:r>
              <a:rPr lang="en-US" sz="920" b="1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 отменам (Recall for cancellations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923544" y="4613464"/>
            <a:ext cx="455371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≥0.70 · рабочий порог не должен пропускать отмены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1280160"/>
            <a:ext cx="51663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318504" y="139903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Базовый ориентир 1: случайный выбор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8504" y="1719072"/>
            <a:ext cx="487375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Случайные верхние 20%; нужен для расчета прироста качества.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72200" y="2697480"/>
            <a:ext cx="51663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6318504" y="281635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Базовый ориентир 2: набор правил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18504" y="3136392"/>
            <a:ext cx="487375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срок до заезда, депозит, прошлые отмены, спецзапросы, сегмент продаж.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172200" y="4114800"/>
            <a:ext cx="516636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6318504" y="423367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47556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Базовый ориентир 3: Логистическая регрессия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8504" y="4553712"/>
            <a:ext cx="4873752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Честный базовая модель машинного обучения после проверка утечки данных и подготовки данных.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72200" y="5532120"/>
            <a:ext cx="5166360" cy="886968"/>
          </a:xfrm>
          <a:prstGeom prst="roundRect">
            <a:avLst>
              <a:gd name="adj" fmla="val 14545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6318504" y="5650992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Критерий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18504" y="5971032"/>
            <a:ext cx="4873752" cy="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Если модель не лучше случайного выбора/правил, продуктовая гипотеза не подтверждена.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12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Монетизация и упаковка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Оптимальная модель — облачная B2B-подписка за объект + оплачиваемый пилот.</a:t>
            </a:r>
            <a:endParaRPr lang="en-US" sz="940" dirty="0"/>
          </a:p>
        </p:txBody>
      </p:sp>
      <p:sp>
        <p:nvSpPr>
          <p:cNvPr id="4" name="Text 2"/>
          <p:cNvSpPr/>
          <p:nvPr/>
        </p:nvSpPr>
        <p:spPr>
          <a:xfrm>
            <a:off x="713232" y="123444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PriceLabs</a:t>
            </a:r>
            <a:endParaRPr lang="en-US" sz="820" dirty="0"/>
          </a:p>
        </p:txBody>
      </p:sp>
      <p:sp>
        <p:nvSpPr>
          <p:cNvPr id="5" name="Shape 3"/>
          <p:cNvSpPr/>
          <p:nvPr/>
        </p:nvSpPr>
        <p:spPr>
          <a:xfrm>
            <a:off x="2423160" y="1271016"/>
            <a:ext cx="157582" cy="14630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6903720" y="123444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0369A1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1 100 ₽</a:t>
            </a:r>
            <a:endParaRPr lang="en-US" sz="770" dirty="0"/>
          </a:p>
        </p:txBody>
      </p:sp>
      <p:sp>
        <p:nvSpPr>
          <p:cNvPr id="7" name="Text 5"/>
          <p:cNvSpPr/>
          <p:nvPr/>
        </p:nvSpPr>
        <p:spPr>
          <a:xfrm>
            <a:off x="713232" y="1801368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Bnovo Старт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423160" y="1837944"/>
            <a:ext cx="391089" cy="14630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6903720" y="1801368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15803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2 730 ₽</a:t>
            </a:r>
            <a:endParaRPr lang="en-US" sz="770" dirty="0"/>
          </a:p>
        </p:txBody>
      </p:sp>
      <p:sp>
        <p:nvSpPr>
          <p:cNvPr id="10" name="Text 8"/>
          <p:cNvSpPr/>
          <p:nvPr/>
        </p:nvSpPr>
        <p:spPr>
          <a:xfrm>
            <a:off x="713232" y="2368296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TravelLine управление каналами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2423160" y="2404872"/>
            <a:ext cx="429768" cy="14630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903720" y="2368296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C2410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3 000 ₽</a:t>
            </a:r>
            <a:endParaRPr lang="en-US" sz="770" dirty="0"/>
          </a:p>
        </p:txBody>
      </p:sp>
      <p:sp>
        <p:nvSpPr>
          <p:cNvPr id="13" name="Text 11"/>
          <p:cNvSpPr/>
          <p:nvPr/>
        </p:nvSpPr>
        <p:spPr>
          <a:xfrm>
            <a:off x="713232" y="2935224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RoomPriceGenie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423160" y="2971800"/>
            <a:ext cx="1274978" cy="14630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6903720" y="2935224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6D28D9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8 900 ₽</a:t>
            </a:r>
            <a:endParaRPr lang="en-US" sz="770" dirty="0"/>
          </a:p>
        </p:txBody>
      </p:sp>
      <p:sp>
        <p:nvSpPr>
          <p:cNvPr id="16" name="Text 14"/>
          <p:cNvSpPr/>
          <p:nvPr/>
        </p:nvSpPr>
        <p:spPr>
          <a:xfrm>
            <a:off x="713232" y="3502152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Наша подписка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2423160" y="3538728"/>
            <a:ext cx="2148840" cy="146304"/>
          </a:xfrm>
          <a:prstGeom prst="rect">
            <a:avLst/>
          </a:prstGeom>
          <a:solidFill>
            <a:srgbClr val="65A30D"/>
          </a:solidFill>
          <a:ln w="12700">
            <a:solidFill>
              <a:srgbClr val="65A30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6903720" y="350215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15 000 ₽</a:t>
            </a:r>
            <a:endParaRPr lang="en-US" sz="770" dirty="0"/>
          </a:p>
        </p:txBody>
      </p:sp>
      <p:sp>
        <p:nvSpPr>
          <p:cNvPr id="19" name="Text 17"/>
          <p:cNvSpPr/>
          <p:nvPr/>
        </p:nvSpPr>
        <p:spPr>
          <a:xfrm>
            <a:off x="713232" y="4069080"/>
            <a:ext cx="1554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Пилот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423160" y="4105656"/>
            <a:ext cx="4297680" cy="14630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903720" y="4069080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70" dirty="0">
                <a:solidFill>
                  <a:srgbClr val="DC262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30 000 ₽</a:t>
            </a:r>
            <a:endParaRPr lang="en-US" sz="770" dirty="0"/>
          </a:p>
        </p:txBody>
      </p:sp>
      <p:sp>
        <p:nvSpPr>
          <p:cNvPr id="22" name="Shape 20"/>
          <p:cNvSpPr/>
          <p:nvPr/>
        </p:nvSpPr>
        <p:spPr>
          <a:xfrm>
            <a:off x="8138160" y="123444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8284464" y="135331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Пилот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284464" y="1673352"/>
            <a:ext cx="295351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30 000 ₽ за 1 месяц: загрузка данных, проверка утечки данных, scoring, бизнес-отчет.</a:t>
            </a:r>
            <a:endParaRPr lang="en-US" sz="840" dirty="0"/>
          </a:p>
        </p:txBody>
      </p:sp>
      <p:sp>
        <p:nvSpPr>
          <p:cNvPr id="25" name="Shape 23"/>
          <p:cNvSpPr/>
          <p:nvPr/>
        </p:nvSpPr>
        <p:spPr>
          <a:xfrm>
            <a:off x="8138160" y="260604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8284464" y="272491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Подписка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84464" y="3044952"/>
            <a:ext cx="295351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15 000 ₽/мес за объект. Цена должна окупаться через защищенную выручку.</a:t>
            </a:r>
            <a:endParaRPr lang="en-US" sz="840" dirty="0"/>
          </a:p>
        </p:txBody>
      </p:sp>
      <p:sp>
        <p:nvSpPr>
          <p:cNvPr id="28" name="Shape 26"/>
          <p:cNvSpPr/>
          <p:nvPr/>
        </p:nvSpPr>
        <p:spPr>
          <a:xfrm>
            <a:off x="8138160" y="397764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8284464" y="409651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Почему не freemium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84464" y="4416552"/>
            <a:ext cx="2953512" cy="5212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B2B-продукт со чувствительные данные и узким рабочий процесс лучше проверять через оплачиваемый пилот.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8138160" y="5349240"/>
            <a:ext cx="3246120" cy="89916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8284464" y="546811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Корпоративный тариф позже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84464" y="5803391"/>
            <a:ext cx="2953512" cy="35122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30–50k ₽/мес: программный интерфейс, сеть объектов, уровень сервиса, единый вход.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35" name="Text 33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13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Итоговые стандарты продукта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Что должно быть зафиксировано после бенчмаркинга.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77824" y="1353312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Минимальные функции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" y="1673352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загрузка файла с бронированиями, проверка данных, оценка риска, категории риска, список высокого риска, объяснение прогноза, выручка под риском, экспорт.</a:t>
            </a:r>
            <a:endParaRPr lang="en-US" sz="890" dirty="0"/>
          </a:p>
        </p:txBody>
      </p:sp>
      <p:sp>
        <p:nvSpPr>
          <p:cNvPr id="7" name="Shape 5"/>
          <p:cNvSpPr/>
          <p:nvPr/>
        </p:nvSpPr>
        <p:spPr>
          <a:xfrm>
            <a:off x="6263640" y="1234440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6409944" y="1353312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369A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Ключевое преимущество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9944" y="1673352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Узкий фокус на риске отмен сценарий вместо широкой система управления отелем/система управления доходностью логики.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731520" y="2715768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877824" y="2834640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Монетизация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3154680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15 000 ₽/мес за объект + пилот 30 000 ₽ за 1 месяц.</a:t>
            </a:r>
            <a:endParaRPr lang="en-US" sz="890" dirty="0"/>
          </a:p>
        </p:txBody>
      </p:sp>
      <p:sp>
        <p:nvSpPr>
          <p:cNvPr id="13" name="Shape 11"/>
          <p:cNvSpPr/>
          <p:nvPr/>
        </p:nvSpPr>
        <p:spPr>
          <a:xfrm>
            <a:off x="6263640" y="2715768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409944" y="2834640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580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Минимум машинного обучения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9944" y="3154680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ROC-AUC ≥0.75</a:t>
            </a:r>
            <a:r>
              <a:rPr lang="en-US" sz="89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; Lift 20 </a:t>
            </a: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≥1.5</a:t>
            </a:r>
            <a:r>
              <a:rPr lang="en-US" sz="89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; Recall 20 </a:t>
            </a: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≥40</a:t>
            </a:r>
            <a:r>
              <a:rPr lang="en-US" sz="89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%; Precision 20 </a:t>
            </a: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≥50%.</a:t>
            </a:r>
            <a:endParaRPr lang="en-US" sz="890" dirty="0"/>
          </a:p>
        </p:txBody>
      </p:sp>
      <p:sp>
        <p:nvSpPr>
          <p:cNvPr id="16" name="Shape 14"/>
          <p:cNvSpPr/>
          <p:nvPr/>
        </p:nvSpPr>
        <p:spPr>
          <a:xfrm>
            <a:off x="731520" y="4197096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877824" y="4315968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6D28D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удобство интерфейса-минимум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7824" y="4636008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≤3 минуты до результата, ≤5 шагов до экспорта, полезность/понятность действий ≥4/5.</a:t>
            </a:r>
            <a:endParaRPr lang="en-US" sz="890" dirty="0"/>
          </a:p>
        </p:txBody>
      </p:sp>
      <p:sp>
        <p:nvSpPr>
          <p:cNvPr id="19" name="Shape 17"/>
          <p:cNvSpPr/>
          <p:nvPr/>
        </p:nvSpPr>
        <p:spPr>
          <a:xfrm>
            <a:off x="6263640" y="4197096"/>
            <a:ext cx="512064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409944" y="4315968"/>
            <a:ext cx="4828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Бизнес-минимум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9944" y="4636008"/>
            <a:ext cx="4828032" cy="4937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9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ожидаемая выручка под риском должен быть виден на уровне брони и портфеля.</a:t>
            </a:r>
            <a:endParaRPr lang="en-US" sz="890" dirty="0"/>
          </a:p>
        </p:txBody>
      </p:sp>
      <p:sp>
        <p:nvSpPr>
          <p:cNvPr id="22" name="Text 20"/>
          <p:cNvSpPr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Главный стандарт: продукт должен быть не “моделью ради модели”, а рабочим инструментом менеджера по доходности: риск → причина → действие → деньги.</a:t>
            </a:r>
            <a:endParaRPr lang="en-US" sz="1260" dirty="0"/>
          </a:p>
        </p:txBody>
      </p:sp>
      <p:sp>
        <p:nvSpPr>
          <p:cNvPr id="23" name="Text 21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14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50" b="1" dirty="0">
                <a:solidFill>
                  <a:srgbClr val="13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Источники и допущения</a:t>
            </a:r>
            <a:endParaRPr lang="en-US" sz="225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Ключевые источники перенесены также в Excel-лист «Источники_курсы».</a:t>
            </a:r>
            <a:endParaRPr lang="en-US" sz="94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07442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877824" y="1353312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65A30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Список источников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77824" y="1673352"/>
            <a:ext cx="10451592" cy="3767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MFDP/ИТМО: лекция «Бенчмаркинг продукта» — методика анализа и формат таблицы.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product_prototype.md — сценарий Прогноз риска отмены бронирований и целевые метрики.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IDeaS: сайт ideas.com; Capterra/G2 — позиционирование, функции, отзывы.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RoomPriceGenie: сайт RoomPriceGenie, раздел тарифов; Capterra — пробный период, обновления, $119 объект.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PriceLabs: сайт hello.pricelabs.co/plans — $14.49/объект/месяц, тариф 1% от выручки.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TravelLine: сайт travelline.ru — 12 000+ клиентов, 300+ интеграций, модуль управления каналами продаж 3 000 ₽/мес.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Bnovo: сайт bnovo.ru/tarif — 2 730/4 550/5 950 ₽/мес, тарифы со скидкой 30%.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Курс валют: USD=74.6209 ₽, EUR=87.8897 ₽ на 12.05.2026.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31520" y="5532120"/>
            <a:ext cx="10744200" cy="685800"/>
          </a:xfrm>
          <a:prstGeom prst="roundRect">
            <a:avLst>
              <a:gd name="adj" fmla="val 10667"/>
            </a:avLst>
          </a:prstGeom>
          <a:solidFill>
            <a:srgbClr val="EEF6ED"/>
          </a:solidFill>
          <a:ln w="762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877824" y="5650992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40" b="1" dirty="0">
                <a:solidFill>
                  <a:srgbClr val="C2410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Допущение</a:t>
            </a:r>
            <a:endParaRPr lang="en-US" sz="940" dirty="0"/>
          </a:p>
        </p:txBody>
      </p:sp>
      <p:sp>
        <p:nvSpPr>
          <p:cNvPr id="9" name="Text 7"/>
          <p:cNvSpPr/>
          <p:nvPr/>
        </p:nvSpPr>
        <p:spPr>
          <a:xfrm>
            <a:off x="877824" y="5971032"/>
            <a:ext cx="10451592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13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Корпоративный-продукты часто не публикуют цену. В таблице такие цены отмечены как “по запросу”; численный price benchmark строится по публичным самостоятельная настройка/модульным ценам.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411480" y="6510528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Прогноз риска отмены бронирований · ДЗ №3 · Бенчмаркинг продукта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11448288" y="647395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40" dirty="0">
                <a:solidFill>
                  <a:srgbClr val="65A30D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15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1979</Words>
  <Application>Microsoft Macintosh PowerPoint</Application>
  <PresentationFormat>Широкоэкранный</PresentationFormat>
  <Paragraphs>335</Paragraphs>
  <Slides>15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Aptos Mono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Прогноз риска отмены бронирований — бенчмаркинг</dc:title>
  <dc:subject>ДЗ №3 — Бенчмаркинг продукта</dc:subject>
  <dc:creator>OpenAI</dc:creator>
  <cp:lastModifiedBy>Волковская Анастасия Руслановна</cp:lastModifiedBy>
  <cp:revision>2</cp:revision>
  <dcterms:created xsi:type="dcterms:W3CDTF">2026-05-12T21:40:16Z</dcterms:created>
  <dcterms:modified xsi:type="dcterms:W3CDTF">2026-05-12T21:58:50Z</dcterms:modified>
</cp:coreProperties>
</file>