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183"/>
                </a:solidFill>
              </a:rPr>
              <a:t>ДЗ №3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Бенчмаркинг продукта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BF7"/>
                </a:solidFill>
              </a:rPr>
              <a:t>Hotel Booking Cancellation 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10972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Цель: определить стандарты продукта через анализ конкурентов и сформулировать ориентиры метрик.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20574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2312" y="22037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Что проверяем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82312" y="2514600"/>
            <a:ext cx="28254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Может ли узкий сервис прогноза отмен бронирований быть полезнее для первой версии, чем широкий продукт управления доходом.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92440" y="20574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22037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Для кого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57032" y="2514600"/>
            <a:ext cx="28254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Revenue-менеджер городского отеля: отвечает за загрузку, цену и доход.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3794760"/>
            <a:ext cx="6629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3941064"/>
            <a:ext cx="6300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Главный итог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82312" y="4251960"/>
            <a:ext cx="63002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Набор минимальных функций, конкурентных преимуществ, цены и бенчмарков.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анализа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По логике урока: от проблемы и конкурентов — к требованиям и бенчмаркам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606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69164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01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Проблема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Отмены бронирований ведут к потере выручки и ошибкам планирования.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2606040" cy="361188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69164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801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93592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Конкуренты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Берем прямые и косвенные решения: IDeaS, RoomPriceGenie, PriceLabs.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060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69164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801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82512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Сравнение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Позиционирование, функции, цена, пользовательский опыт, сильные и слабые места.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417320"/>
            <a:ext cx="2606040" cy="361188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1432" y="169164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1801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71432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Стандарты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71432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</a:rPr>
              <a:t>Минимальные функции, цена, качество модели, скорость и удобство.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Бенчмарк — это ориентир: что считается нормальным уровнем цены, скорости, точности и удобства.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Карта конкурентов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Выбраны решения, которые закрывают близкую задачу управления доходом и загрузкой отеля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721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IDeaS G3 RMS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1783080"/>
            <a:ext cx="31455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Прямой конкурент в широком классе. Сильная система управления доходом: прогноз спроса, цены, ограничения, загрузка, перепродажа номеров.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4721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RoomPriceGenie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53712" y="1783080"/>
            <a:ext cx="31455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Ближе к малым отелям. Делает акцент на простоте и автоматическом расчете цен. Хороший ориентир по удобству.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38160" y="1325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4721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PriceLabs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02752" y="1783080"/>
            <a:ext cx="31455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Косвенный конкурент. Недорогой инструмент динамического ценообразования с большим числом интеграций.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703320"/>
            <a:ext cx="10332720" cy="13533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0C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Главное наблюдение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3159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Конкуренты хорошо закрывают цену, спрос и загрузку. Отдельный узкий сценарий “какие бронирования отменятся и что делать” выделен слабее. Это зона для позиционирования нашего продукта.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Сравнение по ключевым параметрам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В таблицу вынесены параметры, которые влияют на требования к нашему продукту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182880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37160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Параметр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31720" y="1298448"/>
            <a:ext cx="214884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13716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IDeaS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480560" y="1298448"/>
            <a:ext cx="242316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37160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RoomPriceGenie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903720" y="1298448"/>
            <a:ext cx="205740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8584" y="137160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PriceLabs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61120" y="1298448"/>
            <a:ext cx="2331720" cy="438912"/>
          </a:xfrm>
          <a:prstGeom prst="rect">
            <a:avLst/>
          </a:prstGeom>
          <a:solidFill>
            <a:srgbClr val="17324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984" y="1371600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Наш продукт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1737360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18105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Главный фокус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18105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Управление доходом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480560" y="1737360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810512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Авторасчет цен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903720" y="1737360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1810512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Динамические цены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961120" y="1737360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1810512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Риск отмен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02920" y="2304288"/>
            <a:ext cx="1828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23774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Цена входа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2331720" y="2304288"/>
            <a:ext cx="21488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86584" y="23774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75 500–226 500 ₽/мес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480560" y="2304288"/>
            <a:ext cx="24231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237744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17 500–38 900 ₽/мес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903720" y="2304288"/>
            <a:ext cx="20574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58584" y="2377440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от 1 100 ₽/мес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961120" y="2304288"/>
            <a:ext cx="23317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15984" y="2377440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15 000 ₽/мес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02920" y="287121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29443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Первый результат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2331720" y="2871216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6584" y="2944368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после внедрения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480560" y="2871216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294436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до 14 дней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6903720" y="2871216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2944368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до 30 дней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961120" y="2871216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15984" y="2944368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≤ 1 день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502920" y="3438144"/>
            <a:ext cx="18288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" y="351129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Прогноз отмен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331720" y="3438144"/>
            <a:ext cx="21488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86584" y="3511296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не отдельный фокус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4480560" y="3438144"/>
            <a:ext cx="24231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35424" y="3511296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нет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6903720" y="3438144"/>
            <a:ext cx="20574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58584" y="3511296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нет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8961120" y="3438144"/>
            <a:ext cx="23317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15984" y="3511296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да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502920" y="400507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" y="407822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Сильная сторона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2331720" y="4005072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86584" y="4078224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аналитика и масштаб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4480560" y="400507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35424" y="407822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простота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6903720" y="4005072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58584" y="4078224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низкая цена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8961120" y="4005072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15984" y="4078224"/>
            <a:ext cx="2221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1F1F"/>
                </a:solidFill>
              </a:rPr>
              <a:t>узкая задача</a:t>
            </a:r>
            <a:endParaRPr lang="en-US" sz="830" dirty="0"/>
          </a:p>
        </p:txBody>
      </p:sp>
      <p:sp>
        <p:nvSpPr>
          <p:cNvPr id="65" name="Text 63"/>
          <p:cNvSpPr/>
          <p:nvPr/>
        </p:nvSpPr>
        <p:spPr>
          <a:xfrm>
            <a:off x="685800" y="5532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Вывод: копировать широкие системы не нужно. Более сильная стартовая позиция — узкий сценарий отмен, быстрый запуск и цена ниже крупных решений.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4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важно пользователю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Параметры, которые становятся основой продуктовых требований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106984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898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Скорость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2971800" y="13807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Результат не за недели внедрения, а за день на CSV.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10698480" cy="603504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2311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Понятность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971800" y="22219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Не просто число риска, а категория, причина и действие.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916936"/>
            <a:ext cx="106984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072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Деньги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971800" y="30632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Показывать выручку в зоне риска, а не только таблицу.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758184"/>
            <a:ext cx="10698480" cy="603504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136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Доверие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971800" y="39044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Объяснять факторы риска и исключать утечку данных.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599432"/>
            <a:ext cx="106984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754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Фокус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971800" y="474573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</a:rPr>
              <a:t>Не раздувать продукт до полной системы управления доходом.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Минимальные требования к функциональности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То, без чего продукт не будет конкурентоспособен в выбранном сценарии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303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Рабочий минимум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4974336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Загрузка CSV с бронированиями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Проверка данных и ошибок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Прогноз вероятности отмены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Категории риска: низкий / средний / высокий / критический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Таблица с сортировкой по риску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303520" cy="40233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472184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Усиление ценности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28232" y="1783080"/>
            <a:ext cx="4974336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Объяснение факторов риска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Расчет выручки в зоне риска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Рекомендованное действие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Экспорт списка высокого риска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• Метрики качества модели и верхнего списка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Главное: итоговый экран должен отвечать на вопрос “какие бронирования требуют внимания сегодня?”.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Минимальные показатели — бенчмарки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Ориентиры, которые дальше нужно проверять в прототипе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≤ 20 000 ₽/мес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Цена входа за отель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дешевле крупных RMS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063240" y="13258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≤ 30 000 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17647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Пилот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1 месяц проверки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440680" y="13258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≤ 3 минуты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17647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Время отчета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577840" y="196596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после загрузки файла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818120" y="132588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≤ 4 шага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55280" y="17647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Шаги до результата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955280" y="196596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CSV → проверка → скоринг → экспорт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85800" y="288036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ROC-AUC ≥ 0.75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Качество модели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22960" y="352044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отличает отмены от неотмен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3429000" y="288036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Lift@20% ≥ 1.5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6616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Верхний список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566160" y="352044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лучше случайного выбора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Recall@20% ≥ 40%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Найденные отмены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309360" y="352044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часть всех отмен в top-20%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8915400" y="288036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≥ 4 из 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5256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1F1F"/>
                </a:solidFill>
              </a:rPr>
              <a:t>Пользовательская оценка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052560" y="352044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полезность и понятность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85800" y="4800600"/>
            <a:ext cx="10881360" cy="685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0C6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010912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1F1F"/>
                </a:solidFill>
              </a:rPr>
              <a:t>Расшифровка: Recall@20% — какая часть всех фактических отмен попала в верхние 20% рискованных бронирований.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Ценообразование и монетизация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Цены приведены в рублях для сравнения в одном масштабе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44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IDeaS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417320"/>
            <a:ext cx="73152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4630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1F1F"/>
                </a:solidFill>
              </a:rPr>
              <a:t>75 500–226 500 ₽/мес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RoomPriceGenie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1256341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22402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1F1F"/>
                </a:solidFill>
              </a:rPr>
              <a:t>17 500–38 900 ₽/мес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22960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PriceLabs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971800"/>
            <a:ext cx="109728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0" y="30175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1F1F"/>
                </a:solidFill>
              </a:rPr>
              <a:t>от 1 100 ₽/мес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2296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Наш продукт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749040"/>
            <a:ext cx="484450" cy="292608"/>
          </a:xfrm>
          <a:prstGeom prst="rect">
            <a:avLst/>
          </a:prstGeom>
          <a:solidFill>
            <a:srgbClr val="F4B1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0" y="37947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1F1F"/>
                </a:solidFill>
              </a:rPr>
              <a:t>15 000 ₽/мес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22960" y="461772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76402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Вывод по цене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" y="5074920"/>
            <a:ext cx="47914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Оптимально: 15 000 ₽/мес за один отель и пилот 30 000 ₽ за 1 месяц. Это выше “игрушечного” уровня, но ниже больших систем.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5120640" cy="109728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476402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Модель оплаты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82512" y="5074920"/>
            <a:ext cx="47914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B2B-подписка за отель. Для прототипа — CSV-режим; для следующей версии — интеграция с PMS.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Конкурентное преимущество нашего продукта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Отстраиваемся не шириной функций, а точностью сценария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2926080" cy="3291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Конкуренты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23317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Цена номера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Спрос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Загрузка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Каналы продаж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• Широкое управление доходом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777240" cy="685800"/>
          </a:xfrm>
          <a:prstGeom prst="chevron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371600"/>
            <a:ext cx="5943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Наш фокус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176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</a:rPr>
              <a:t>бронирования → риск отмены → причина → действие → выручка в зоне риска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6072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</a:rPr>
              <a:t>Это позволяет проверить продукт быстрее, дешевле и с понятной ценностью для revenue-менеджера.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38221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389077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узкий сценарий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479792" y="38221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389077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быстрый старт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189720" y="38221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389077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цена ниже RMS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Итоговые требования и следующий шаг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2237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Что должно получиться после бенчмаркинга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Минимальные требования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314553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CSV-загрузка, проверка данных, риск отмены, категории риска, причины, выручка в зоне риска, экспорт, отчет качества.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74720" cy="19659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4721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Ключевые преимущества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53712" y="1783080"/>
            <a:ext cx="314553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Узкий фокус на отменах, быстрый результат, объяснение прогноза, цена ниже больших систем, понятный список действий.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92440" y="132588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4721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Оптимальная монетизация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57032" y="1783080"/>
            <a:ext cx="314553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</a:rPr>
              <a:t>15 000 ₽/мес за отель; пилот 30 000 ₽. Модель: B2B-подписка за объект.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10881360" cy="10515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183"/>
                </a:solidFill>
              </a:rPr>
              <a:t>Главный стандарт продукта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4622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Продукт должен быть не “моделью ради модели”, а рабочим инструментом: риск → причина → действие → деньги.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Следующий шаг: проверить бенчмарки в прототипе и посчитать продуктовые метрики на 3–5 демонстрациях.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ДЗ №3 · Бенчмаркинг продукта · 10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0" y="651052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Все цены пересчитаны в ₽; открытые цены конкурентов могут отличаться от коммерческого предложения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MFDP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ДЗ №3 — Бенчмаркинг продукта</dc:title>
  <dc:subject>Бенчмаркинг продукта</dc:subject>
  <dc:creator>MFDP</dc:creator>
  <cp:lastModifiedBy>MFDP</cp:lastModifiedBy>
  <cp:revision>1</cp:revision>
  <dcterms:created xsi:type="dcterms:W3CDTF">2026-05-05T21:33:46Z</dcterms:created>
  <dcterms:modified xsi:type="dcterms:W3CDTF">2026-05-05T21:33:46Z</dcterms:modified>
</cp:coreProperties>
</file>